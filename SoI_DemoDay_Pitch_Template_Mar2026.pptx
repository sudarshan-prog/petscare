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8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https://www.ycombinator.com/blog/guide-to-demo-day-pitches/
- https://toolkit.techstars.com/master-your-pitch-worksheet
- https://guykawasaki.com/the-only-10-slides-you-need-in-your-pitch/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https://www.ycombinator.com/blog/guide-to-demo-day-pitches/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https://www.ycombinator.com/blog/guide-to-demo-day-pitches/
- https://toolkit.techstars.com/master-your-pitch-worksheet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https://toolkit.techstars.com/master-your-pitch-worksheet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https://corpgov.law.harvard.edu/2019/08/20/how-do-venture-capitalists-make-decisions/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I_MASTER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4395B"/>
          </a:solidFill>
          <a:ln w="12700">
            <a:solidFill>
              <a:srgbClr val="1439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829800" y="11887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CE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 Innovation Pipeline</a:t>
            </a:r>
            <a:endParaRPr lang="en-US" sz="9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 Demo Day Pitch Deck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Day — 28 Mar 2026 | Jury: External Investors + Technical Experts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12680" y="475488"/>
            <a:ext cx="1691640" cy="6062472"/>
          </a:xfrm>
          <a:prstGeom prst="rect">
            <a:avLst/>
          </a:prstGeom>
          <a:solidFill>
            <a:srgbClr val="5C8FC5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464040" y="2798064"/>
            <a:ext cx="1508760" cy="150876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96696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" y="1325880"/>
            <a:ext cx="48920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86384" y="1490472"/>
            <a:ext cx="4562856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Title: [Your Project Name]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[Team Name]   |   Team ID: [P-YYYY-YY-XX-000]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 Lab Code: [AD/BW/CD/CS/EI/MA/FW]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Cohort: [YYYY–YY]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[Name]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Members: [Name1, Name2, ...]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Mentor: [Name]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[email / phone]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name: SoI_DemoDay_&lt;TeamName&gt;_&lt;LabCode&gt;_&lt;Date&gt;.pptx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4553712"/>
            <a:ext cx="4892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6384" y="4663440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reminder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" y="4901184"/>
            <a:ext cx="45628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in the deck: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video link / QR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 / artifacts link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Review Data slides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79008" y="13258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0" y="1435608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673352"/>
            <a:ext cx="32826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[Prototype / MVP]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79008" y="2560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0" y="2670048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Day focus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907792"/>
            <a:ext cx="32826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clear problem, a credible build, evidence of progress, and a believable next step.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79008" y="41605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0" y="4270248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in deck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507992"/>
            <a:ext cx="32826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live-pitch slides: 1 and 3–13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/ backup: 14–15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for presentation: 16–17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This Demo Day Pitch Deck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live pitch tight. Move extra depth to appendix or Q&amp;A.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67512" y="1371600"/>
            <a:ext cx="3374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jury wants to see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1609344"/>
            <a:ext cx="3374136" cy="4453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Audience: external investors + technical experts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Goal: earn a next meeting / follow-up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progress since Jan and what is real today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numbers, screenshots, and specific evidence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one main point per slide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jargon and dense paragraphs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261872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53712" y="1371600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pack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53712" y="1609344"/>
            <a:ext cx="3328416" cy="4453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Demo Day deck (.pptx)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video (≤ 2 min)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 / CAD / notebook / logs link(s)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Optional appendix slides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links readable and working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261872"/>
            <a:ext cx="3456432" cy="48920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94192" y="1371600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94192" y="1609344"/>
            <a:ext cx="3127248" cy="4453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Pitch in one sentence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Problem + user + payer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Alternatives + gap + why now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Solution + differentiation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Current build + REAL vs SIMULATED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Validation / metrics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Who pays + pricing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Market + beachhead + GTM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Team + ask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this slide if you do not want to show instructions in the final presentation.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in One Sentence + Journey Snapshot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11155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408176"/>
            <a:ext cx="1082649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(1 sentence): [What you built + for whom + the measurable outcome]   Example: “We help [end-user] achieve [benefit] by [solution], using [key advantage].”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" y="2139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stage: [Prototype / MVP]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340864"/>
            <a:ext cx="1798320" cy="530352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74392" y="2340864"/>
            <a:ext cx="1798320" cy="530352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20112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45864" y="2340864"/>
            <a:ext cx="1798320" cy="530352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91584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17336" y="2340864"/>
            <a:ext cx="1798320" cy="530352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63056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88808" y="2340864"/>
            <a:ext cx="1798320" cy="530352"/>
          </a:xfrm>
          <a:prstGeom prst="roundRect">
            <a:avLst/>
          </a:prstGeom>
          <a:solidFill>
            <a:srgbClr val="5C8FC5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034528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60280" y="2340864"/>
            <a:ext cx="1798320" cy="530352"/>
          </a:xfrm>
          <a:prstGeom prst="roundRect">
            <a:avLst/>
          </a:prstGeom>
          <a:solidFill>
            <a:srgbClr val="14395B"/>
          </a:solidFill>
          <a:ln w="12700">
            <a:solidFill>
              <a:srgbClr val="1439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906000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7512" y="3264408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trail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3502152"/>
            <a:ext cx="5065776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 validated: [interviews / observations / data]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PoC proved: [core function / assumption]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Prototype / MVP proved: [current metric or user proof]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lesson so far: [ 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154680"/>
            <a:ext cx="5532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91072" y="3264408"/>
            <a:ext cx="520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since Pre-Demo Day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3502152"/>
            <a:ext cx="5202936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improved since Pre-Demo Day: [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now real (not just planned): [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remains for the next milestone: [ 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Problem, User, Buyer, and Pain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4160520" cy="498348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353312"/>
            <a:ext cx="3831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91056"/>
            <a:ext cx="383133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[Describe the problem in plain language. Avoid solution language.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today? Why does it matter? How often / how severe is it?]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846320" y="1243584"/>
            <a:ext cx="2788920" cy="4983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10912" y="1353312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buyer /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245973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End-user: [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/ payer: [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[where / when]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workaround: [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243584"/>
            <a:ext cx="3840480" cy="4983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82712" y="135331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pain metric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82712" y="1591056"/>
            <a:ext cx="351129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[n interviews / observations / data / quote]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pain metric: [name]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today: [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urgent now: [ 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Alternatives, Gap, and Why Now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6537960" cy="30632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does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Limitation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 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 B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 C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269480" y="1261872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434072" y="1371600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we found</a:t>
            </a:r>
            <a:endParaRPr lang="en-US" sz="1200" dirty="0"/>
          </a:p>
        </p:txBody>
      </p:sp>
      <p:sp>
        <p:nvSpPr>
          <p:cNvPr id="3" name="Text 3"/>
          <p:cNvSpPr/>
          <p:nvPr/>
        </p:nvSpPr>
        <p:spPr>
          <a:xfrm>
            <a:off x="7434072" y="1609344"/>
            <a:ext cx="40599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is still missing in current options?]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269480" y="2487168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434072" y="2596896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34072" y="2834640"/>
            <a:ext cx="40599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[Tech readiness / regulation / cost shift / timing]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69480" y="3712464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434072" y="3822192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insight / thesis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34072" y="4059936"/>
            <a:ext cx="40599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do you understand that others miss?]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4617720"/>
            <a:ext cx="6537960" cy="1609344"/>
          </a:xfrm>
          <a:prstGeom prst="roundRect">
            <a:avLst>
              <a:gd name="adj" fmla="val 4545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67512" y="4727448"/>
            <a:ext cx="6208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7512" y="4965192"/>
            <a:ext cx="620877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real alternatives. Do not say “no competition.” Investors and technical jurors want to know where current options fail and why your timing is better now.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Solution, Differentiation, and 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4572000" cy="49834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353312"/>
            <a:ext cx="4242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91056"/>
            <a:ext cx="424281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[2–3 lines]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is better: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[benefit 1]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[benefit 2]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[benefit 3]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differentiator / moat: [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243584"/>
            <a:ext cx="6355080" cy="4983480"/>
          </a:xfrm>
          <a:prstGeom prst="roundRect">
            <a:avLst>
              <a:gd name="adj" fmla="val 1468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68112" y="1353312"/>
            <a:ext cx="6025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 (diagram / UI / product photo)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8112" y="1591056"/>
            <a:ext cx="602589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a simple architecture / UI / workflow / product photo here.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The audience should understand this in 10–15 seconds.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mocked / simulated pieces clearly.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Build, Demo Status, and REAL vs SIMULATED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11155680" cy="21488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 / step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Simulated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End-user interaction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is real today?]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logic / model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Integration / deployment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Reports / alerts / analytics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36576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67512" y="3767328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 snapshot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" y="4005072"/>
            <a:ext cx="332841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stage: [Prototype / MVP]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context / pilot site: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/ test runs: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available: [Yes / No]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Version: [ ]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89120" y="36576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5"/>
          <p:cNvSpPr/>
          <p:nvPr/>
        </p:nvSpPr>
        <p:spPr>
          <a:xfrm>
            <a:off x="4553712" y="3767328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working today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53712" y="4005072"/>
            <a:ext cx="332841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working today: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stable enough to show: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Biggest current gap: [ ]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75320" y="36576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439912" y="3767328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links + not yet built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39912" y="4005072"/>
            <a:ext cx="305409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video: [URL / QR]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Repo: [URL]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Artifacts: [URL]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yet built: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 ]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 ]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Validation, Metrics, and Learning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11155680" cy="19659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 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[slide / link / log]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 2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[slide / link / log]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 3 (optional)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[slide / link / log]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3456432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67512" y="3566160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validation / traction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" y="3803904"/>
            <a:ext cx="492861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/ test runs: [ ]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sites / contexts: [ ]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signal: [ ]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Quote: “ [ ] ”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worked for users: [ ]</a:t>
            </a:r>
            <a:endParaRPr lang="en-US" sz="1280" dirty="0"/>
          </a:p>
        </p:txBody>
      </p:sp>
      <p:sp>
        <p:nvSpPr>
          <p:cNvPr id="7" name="Shape 4"/>
          <p:cNvSpPr/>
          <p:nvPr/>
        </p:nvSpPr>
        <p:spPr>
          <a:xfrm>
            <a:off x="5989320" y="3456432"/>
            <a:ext cx="56692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153912" y="3566160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learning + iteration</a:t>
            </a:r>
            <a:endParaRPr lang="en-US" sz="1200" dirty="0"/>
          </a:p>
        </p:txBody>
      </p:sp>
      <p:sp>
        <p:nvSpPr>
          <p:cNvPr id="3" name="Text 6"/>
          <p:cNvSpPr/>
          <p:nvPr/>
        </p:nvSpPr>
        <p:spPr>
          <a:xfrm>
            <a:off x="6153912" y="3803904"/>
            <a:ext cx="534009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learning: [ ]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after feedback: [ ]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Biggest open risk: [ ]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improvement to make: [ ]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Pays + Business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35331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buyer / adoption path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91056"/>
            <a:ext cx="323697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user: [ ]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/ payer: [ ]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path / adoption path: [ ]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Decision-maker(s): [ ]</a:t>
            </a:r>
            <a:endParaRPr lang="en-US" sz="1290" dirty="0"/>
          </a:p>
        </p:txBody>
      </p:sp>
      <p:sp>
        <p:nvSpPr>
          <p:cNvPr id="6" name="Shape 4"/>
          <p:cNvSpPr/>
          <p:nvPr/>
        </p:nvSpPr>
        <p:spPr>
          <a:xfrm>
            <a:off x="4279392" y="1243584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443984" y="135331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3984" y="1591056"/>
            <a:ext cx="323697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model: [ ]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package: [ ]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recurring / one-time elements: [ ]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logic sanity check: [1 line]</a:t>
            </a:r>
            <a:endParaRPr lang="en-US" sz="1290" dirty="0"/>
          </a:p>
        </p:txBody>
      </p:sp>
      <p:sp>
        <p:nvSpPr>
          <p:cNvPr id="9" name="Shape 7"/>
          <p:cNvSpPr/>
          <p:nvPr/>
        </p:nvSpPr>
        <p:spPr>
          <a:xfrm>
            <a:off x="8055864" y="1243584"/>
            <a:ext cx="3602736" cy="498348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0456" y="1353312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they will pay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0456" y="1591056"/>
            <a:ext cx="3273552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will the payer care?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[time / cost / risk / compliance benefit]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[how you will measure value]</a:t>
            </a:r>
            <a:endParaRPr lang="en-US" sz="1290" dirty="0"/>
          </a:p>
          <a:p>
            <a:pPr marL="0" indent="0">
              <a:buNone/>
            </a:pP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plausible now: [ ]</a:t>
            </a:r>
            <a:endParaRPr lang="en-US" sz="12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Market, Beachhead, and Go-to-Market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35331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sizing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91056"/>
            <a:ext cx="323697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TAM: [ 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SAM: [ 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 (12–24 mo): [ ]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rough bottom-up logic: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[# customers / sites / seats / devices] × [price]</a:t>
            </a:r>
            <a:endParaRPr lang="en-US" sz="1260" dirty="0"/>
          </a:p>
        </p:txBody>
      </p:sp>
      <p:sp>
        <p:nvSpPr>
          <p:cNvPr id="6" name="Shape 4"/>
          <p:cNvSpPr/>
          <p:nvPr/>
        </p:nvSpPr>
        <p:spPr>
          <a:xfrm>
            <a:off x="4279392" y="1243584"/>
            <a:ext cx="3246120" cy="4983480"/>
          </a:xfrm>
          <a:prstGeom prst="roundRect">
            <a:avLst>
              <a:gd name="adj" fmla="val 2254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443984" y="1353312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path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3984" y="1591056"/>
            <a:ext cx="291693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path: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Beachhead [first target]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Adjacent segment [next]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Broader rollout [later]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a small funnel / map / adoption visual if useful.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7735824" y="1243584"/>
            <a:ext cx="3922776" cy="4983480"/>
          </a:xfrm>
          <a:prstGeom prst="roundRect">
            <a:avLst>
              <a:gd name="adj" fmla="val 186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00416" y="1353312"/>
            <a:ext cx="3593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 + GTM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0416" y="1591056"/>
            <a:ext cx="3593592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 (first small target group): [ 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Channel: [direct / partner / pilot]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90-day GTM plan: [ 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stakeholders: [ 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blocker to solve first: [ ]</a:t>
            </a:r>
            <a:endParaRPr lang="en-US" sz="12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Can Win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11155680" cy="4069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Capability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 A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 B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 C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Our solution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value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Real-time / speed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 to deploy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Privacy / safety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Ease of pilot / adoption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Measurable outcome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5486400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67512" y="5596128"/>
            <a:ext cx="10826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 / defensibility / execution advantage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" y="5833872"/>
            <a:ext cx="108264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[Execution advantage / data advantage / deployment learning / IP / trust / workflow integration]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+ Ask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2679192" cy="1051560"/>
          </a:xfrm>
          <a:prstGeom prst="roundRect">
            <a:avLst>
              <a:gd name="adj" fmla="val 6957"/>
            </a:avLst>
          </a:prstGeom>
          <a:solidFill>
            <a:srgbClr val="EDF4FC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35331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91056"/>
            <a:ext cx="23500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is proven?]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3291840" y="1243584"/>
            <a:ext cx="2679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56432" y="135331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90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56432" y="1591056"/>
            <a:ext cx="23500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[key build + validation]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6080760" y="1243584"/>
            <a:ext cx="2679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45352" y="135331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months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5352" y="1591056"/>
            <a:ext cx="23500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[pilot / integration / milestone]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8869680" y="1243584"/>
            <a:ext cx="2679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034272" y="135331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months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34272" y="1591056"/>
            <a:ext cx="23500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[scaling / productization]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502920" y="2578608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7512" y="2688336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want from the jury / advisors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" y="2926080"/>
            <a:ext cx="5065776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looking for: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[pilot access]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[technical review / validation]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[industry intro / partner]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[funding / credits / equipment]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[other specific ask]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6126480" y="2578608"/>
            <a:ext cx="55321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91072" y="2688336"/>
            <a:ext cx="520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success looks like next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2926080"/>
            <a:ext cx="5202936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next milestone we aim to show: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 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 ]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 ]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follow-up from this Demo Day would be: [ ]</a:t>
            </a:r>
            <a:endParaRPr lang="en-US" sz="12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Team, Roles, and Why This Team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11155680" cy="2880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they own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Relevant strength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[Name]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[Role]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[Module / area]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[Name]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[Role]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[Module / area]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[Name]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[Role]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[Module / area]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[Name]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[Role]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[Module / area]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4370832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67512" y="4480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team can deliver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" y="4718304"/>
            <a:ext cx="511149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this team fits the problem: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Access to users / domain / lab strengths: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Execution rhythm: [ ]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17920" y="4370832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382512" y="4480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 / advisors / gaps to fill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82512" y="4718304"/>
            <a:ext cx="511149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Advisors / validators: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to fill next: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will fill it: [ ]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Risks, Compliance, and Deployment Readiness (Optional)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only if it strengthens your case or your domain requires it.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11155680" cy="2971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Likelihood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[L/M/H]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[L/M/H]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[L/M/H]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[L/M/H]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[L/M/H]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[L/M/H]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[L/M/H]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[L/M/H]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5262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67512" y="463600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/ ethics / safety / regulatory notes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7512" y="4873752"/>
            <a:ext cx="511149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data do you collect? [ ]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you NOT collect? [ ]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/ safety / regulatory note: [ ]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217920" y="45262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82512" y="463600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constraints / dependencies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82512" y="4873752"/>
            <a:ext cx="511149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Dependencies: [ ]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/ user access needed: [ ]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constraint to solve next: [ ]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this slide if it adds no value to your live pitch.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+ Appendix (Optional)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space for sources, extra metrics, architecture, and backup material.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11556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67512" y="1408176"/>
            <a:ext cx="10826496" cy="4727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[Author / source / title / year / link]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[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[ 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ideas: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Extra metrics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Extra screenshots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Detailed architecture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logs / protocols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references in a consistent style (IEEE or another single style).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10949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Data — Core Venture Data (Internal Only)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this slide in the deck. Use these fixed field IDs for consistent internal review across teams.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5486400" cy="405993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 ID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team_id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project_title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lab_code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current_stage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[Prototype / MVP]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pitch_one_liner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end_user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buyer_or_payer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problem_context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pain_metric_name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pain_metric_baseline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pain_metric_current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243584"/>
          <a:ext cx="5458968" cy="405993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 ID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evidence_of_need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alternatives_named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gap_statement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solution_summary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unique_advantage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real_components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simulated_components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current_users_or_tests_n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pilot_sites_n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metric_1_name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metric_1_target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537960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present this slide live. Keep field IDs unchanged across teams.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1131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Data — Build, Proof, and Execution Data (Internal Only)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value is not applicable, write “NA”; do not leave required fields blank.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5486400" cy="38404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 ID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metric_1_actual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metric_2_name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metric_2_target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metric_2_actual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pricing_model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why_will_they_pay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beachhead_segment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gtm_channel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market_logic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top_risk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compliance_or_ethics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243584"/>
          <a:ext cx="5458968" cy="25603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 ID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next_90_days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ask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team_roles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team_credibility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demo_link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repo_or_artifacts_link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“NA” if a field is not applicable.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537960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present this slide live. These fields align with the SoI Demo Day review rubric.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907BBEDC14A4C8FC97DA96E08BBC5" ma:contentTypeVersion="11" ma:contentTypeDescription="Create a new document." ma:contentTypeScope="" ma:versionID="fa252b5d7e1dc5dd99e85cbe24662174">
  <xsd:schema xmlns:xsd="http://www.w3.org/2001/XMLSchema" xmlns:xs="http://www.w3.org/2001/XMLSchema" xmlns:p="http://schemas.microsoft.com/office/2006/metadata/properties" xmlns:ns2="2f4934b7-0fc6-4d97-a10e-a4abc13aa938" xmlns:ns3="dfa0e504-8bee-45b4-abda-0eb00ef5ae73" targetNamespace="http://schemas.microsoft.com/office/2006/metadata/properties" ma:root="true" ma:fieldsID="1ce376e57755c0675c2b308f14fbc3da" ns2:_="" ns3:_="">
    <xsd:import namespace="2f4934b7-0fc6-4d97-a10e-a4abc13aa938"/>
    <xsd:import namespace="dfa0e504-8bee-45b4-abda-0eb00ef5a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934b7-0fc6-4d97-a10e-a4abc13aa9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7d36ee0-516a-46d7-9c37-891188aa7a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a0e504-8bee-45b4-abda-0eb00ef5a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3d93d04-232a-4d73-9ac9-3c304748dd7d}" ma:internalName="TaxCatchAll" ma:showField="CatchAllData" ma:web="dfa0e504-8bee-45b4-abda-0eb00ef5a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a0e504-8bee-45b4-abda-0eb00ef5ae73" xsi:nil="true"/>
    <lcf76f155ced4ddcb4097134ff3c332f xmlns="2f4934b7-0fc6-4d97-a10e-a4abc13aa93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1752A1E-6A28-4AAC-AE19-337C7DE7DA10}"/>
</file>

<file path=customXml/itemProps2.xml><?xml version="1.0" encoding="utf-8"?>
<ds:datastoreItem xmlns:ds="http://schemas.openxmlformats.org/officeDocument/2006/customXml" ds:itemID="{C5507AC2-DF1B-4026-9A5B-370712D4FFF5}"/>
</file>

<file path=customXml/itemProps3.xml><?xml version="1.0" encoding="utf-8"?>
<ds:datastoreItem xmlns:ds="http://schemas.openxmlformats.org/officeDocument/2006/customXml" ds:itemID="{18FF366D-ED4D-4D72-955B-C6F52E57637C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2378</Words>
  <Application>Microsoft Office PowerPoint</Application>
  <PresentationFormat>Widescreen</PresentationFormat>
  <Paragraphs>485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 Demo Day Pitch Deck Template</dc:title>
  <dc:subject>SoI Demo Day 2026 template</dc:subject>
  <dc:creator>Thiruvaazhi Uloli</dc:creator>
  <cp:lastModifiedBy>Thiruvaazhi Uloli</cp:lastModifiedBy>
  <cp:revision>3</cp:revision>
  <dcterms:created xsi:type="dcterms:W3CDTF">2026-03-09T16:34:16Z</dcterms:created>
  <dcterms:modified xsi:type="dcterms:W3CDTF">2026-03-10T01:12:29Z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0x010100F04907BBEDC14A4C8FC97DA96E08BBC5</vt:lpwstr>
  </property>
</Properties>
</file>